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6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D63"/>
                </a:solidFill>
                <a:latin typeface="Calibri"/>
              </a:rPr>
              <a:t>Minimum passing floor per rubric category (design target,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Required passing floor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schema_valid</c:v>
                  </c:pt>
                  <c:pt idx="1">
                    <c:v>citation_present</c:v>
                  </c:pt>
                  <c:pt idx="2">
                    <c:v>factually_consistent</c:v>
                  </c:pt>
                  <c:pt idx="3">
                    <c:v>safe_refusal</c:v>
                  </c:pt>
                  <c:pt idx="4">
                    <c:v>no_phi_in_logs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95</c:v>
                </c:pt>
                <c:pt idx="2">
                  <c:v>85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coherent system: everything on the left (chat UI, OpenEMR's own auth/ACL/FHIR/audit, and the Week 1 agent loop with its deterministic verifier) is unchanged. Week 2 adds an upload surface and a supervisor that routes to two workers before handing off to that same verified loop to finalize — and the one new write path (labeled) lands extracted lab facts straight into OpenEMR Core, where the existing FHIR Observation service already knows how to read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mermaid block in W2_ARCHITECTURE.md §1: two subgraphs (existing / new), the Clinician outside both. Extractor and Retriever report their results back up to the Supervisor after each step — that return path (mermaid's dashed 'handoff logged' edges) is folded into the Supervisor's own label here rather than drawn as two more crossing lines, to keep the diagram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Golden-set gate runs against real Anthropic + Voyage APIs (stubbed integration tests cover plumbing separately, always run, no live-API cost). Any category dropping more than 5% from its checked-in baseline, or falling below its floor, fails the gate — enforced today via a pre-push git hook rather than a GitLab CI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Whole-System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the unchanged Week 1 foundation, plus everything Week 2 adds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83480" y="123444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93208" y="12801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(browser)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2F2F2"/>
          </a:solidFill>
          <a:ln w="19050">
            <a:solidFill>
              <a:srgbClr val="6B6B6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existing foundation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219456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Chat UI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83464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pPr algn="ctr" indent="0" marL="0">
              <a:lnSpc>
                <a:spcPct val="108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⇄ execute_tools → verify — 9 FHIR tools, deterministic verifier, Claude LLM (BAA), Langfuse (redacted)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74904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379476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Core</a:t>
            </a:r>
            <a:pPr algn="ctr" indent="0" marL="0">
              <a:lnSpc>
                <a:spcPct val="108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OAuth2/SMART auth · ACL · FHIR R4 API · Audit Log · MySQL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4846320" cy="3063240"/>
          </a:xfrm>
          <a:prstGeom prst="roundRect">
            <a:avLst>
              <a:gd name="adj" fmla="val 3582"/>
            </a:avLst>
          </a:prstGeom>
          <a:solidFill>
            <a:srgbClr val="EAF3FF"/>
          </a:solidFill>
          <a:ln w="19050">
            <a:solidFill>
              <a:srgbClr val="1A5FA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901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new additions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214884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CFE8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33488" y="219456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Widget — lab PDF / intake form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23760" y="278892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3970">
            <a:solidFill>
              <a:srgbClr val="0B3D6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33488" y="2834640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— routes work, logs every handoff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23760" y="34747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CFE8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33488" y="352044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Intake-Extractor</a:t>
            </a:r>
            <a:pPr algn="ctr" indent="0" marL="0">
              <a:lnSpc>
                <a:spcPct val="108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+ strict schema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64040" y="34747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CFE8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73768" y="352044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Evidence-Retriever</a:t>
            </a:r>
            <a:pPr algn="ctr" indent="0" marL="0">
              <a:lnSpc>
                <a:spcPct val="108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+ rerank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2971800" y="1618488"/>
            <a:ext cx="2560320" cy="5303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57800" y="2286000"/>
            <a:ext cx="19659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57800" y="2514600"/>
            <a:ext cx="1965960" cy="338328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257800" y="3063240"/>
            <a:ext cx="1965960" cy="64008"/>
          </a:xfrm>
          <a:prstGeom prst="line">
            <a:avLst/>
          </a:prstGeom>
          <a:noFill/>
          <a:ln w="22225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43600" y="2976372"/>
            <a:ext cx="5943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9763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flipH="1">
            <a:off x="5257800" y="3794760"/>
            <a:ext cx="1965960" cy="246888"/>
          </a:xfrm>
          <a:prstGeom prst="line">
            <a:avLst/>
          </a:prstGeom>
          <a:noFill/>
          <a:ln w="19050">
            <a:solidFill>
              <a:srgbClr val="E76F51"/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46420" y="3799332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646420" y="37993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write path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V="1">
            <a:off x="2971800" y="2606040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71800" y="3566160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72600" y="2606040"/>
            <a:ext cx="0" cy="18288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8138160" y="3291840"/>
            <a:ext cx="91440" cy="18288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515600" y="3291840"/>
            <a:ext cx="91440" cy="18288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21240" y="6263640"/>
            <a:ext cx="237744" cy="182880"/>
          </a:xfrm>
          <a:prstGeom prst="rect">
            <a:avLst/>
          </a:prstGeom>
          <a:solidFill>
            <a:srgbClr val="E8E8E8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95560" y="6217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(unchanged)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921240" y="6519672"/>
            <a:ext cx="237744" cy="182880"/>
          </a:xfrm>
          <a:prstGeom prst="rect">
            <a:avLst/>
          </a:prstGeom>
          <a:solidFill>
            <a:srgbClr val="CFE8FF"/>
          </a:solidFill>
          <a:ln w="9525">
            <a:solidFill>
              <a:srgbClr val="1A5F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(new)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 2 System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rendering of the mermaid diagram in W2_ARCHITECTURE.md §1 — same nodes, same edges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92040" y="1207008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01768" y="125272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</a:t>
            </a:r>
            <a:pPr algn="ctr" indent="0" marL="0">
              <a:lnSpc>
                <a:spcPct val="108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logged into OpenEMR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9050">
            <a:solidFill>
              <a:srgbClr val="6B6B6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56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(Week 1, unchanged)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2148840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ChatUI</a:t>
            </a:r>
            <a:pPr algn="ctr" indent="0" marL="0">
              <a:lnSpc>
                <a:spcPct val="108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“Co-Pilot Chat Panel”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743200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AgentLoop</a:t>
            </a:r>
            <a:pPr algn="ctr" indent="0" marL="0">
              <a:lnSpc>
                <a:spcPct val="108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⇄ execute_tools → verify (FHIR read tools + deterministic verifier)”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361188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</a:t>
            </a:r>
            <a:pPr algn="ctr" indent="0" marL="0">
              <a:lnSpc>
                <a:spcPct val="108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“FHIR R4 read API — Patient/.../Observation”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356616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E8E8E8"/>
          </a:solidFill>
          <a:ln w="1397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2968" y="361188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DocsAPI</a:t>
            </a:r>
            <a:pPr algn="ctr" indent="0" marL="0">
              <a:lnSpc>
                <a:spcPct val="108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“Native REST: documents, allergy, medication”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78308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EAF3FF"/>
          </a:solidFill>
          <a:ln w="19050">
            <a:solidFill>
              <a:srgbClr val="1A5FA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132320" y="1856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Week 2 additions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2103120"/>
            <a:ext cx="4297680" cy="438912"/>
          </a:xfrm>
          <a:prstGeom prst="roundRect">
            <a:avLst>
              <a:gd name="adj" fmla="val 16667"/>
            </a:avLst>
          </a:prstGeom>
          <a:solidFill>
            <a:srgbClr val="CFE8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33488" y="214884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UploadUI</a:t>
            </a:r>
            <a:pPr algn="ctr" indent="0" marL="0">
              <a:lnSpc>
                <a:spcPct val="108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“Upload widget (lab PDF / intake form)”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23760" y="269748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3970">
            <a:solidFill>
              <a:srgbClr val="0B3D6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33488" y="2743200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pPr algn="ctr" indent="0" marL="0">
              <a:lnSpc>
                <a:spcPct val="108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E7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“routes, logs handoffs” — every worker reports back here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23760" y="35204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CFE8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33488" y="35661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pPr algn="ctr" indent="0" marL="0">
              <a:lnSpc>
                <a:spcPct val="108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“intake-extractor (Claude vision + schema)”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64040" y="35204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CFE8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73768" y="35661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pPr algn="ctr" indent="0" marL="0">
              <a:lnSpc>
                <a:spcPct val="108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“evidence-retriever (hybrid RAG + rerank)”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2376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9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33488" y="448056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NewPHP</a:t>
            </a:r>
            <a:pPr algn="ctr" indent="0" marL="0">
              <a:lnSpc>
                <a:spcPct val="108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0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“procedure_order/report/result”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6404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9FF"/>
          </a:solidFill>
          <a:ln w="1397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73768" y="448056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RAGIndex</a:t>
            </a:r>
            <a:pPr algn="ctr" indent="0" marL="0">
              <a:lnSpc>
                <a:spcPct val="108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0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“Guideline corpus (BM25+Voyage)”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2971800" y="1618488"/>
            <a:ext cx="2560320" cy="4846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57800" y="2240280"/>
            <a:ext cx="19659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57800" y="2468880"/>
            <a:ext cx="1965960" cy="32004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5257800" y="3017520"/>
            <a:ext cx="1965960" cy="45720"/>
          </a:xfrm>
          <a:prstGeom prst="line">
            <a:avLst/>
          </a:prstGeom>
          <a:noFill/>
          <a:ln w="22225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43600" y="2921508"/>
            <a:ext cx="5943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29215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5257800" y="3703320"/>
            <a:ext cx="1965960" cy="9144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83580" y="363016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783580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 flipV="1">
            <a:off x="2971800" y="2542032"/>
            <a:ext cx="0" cy="155448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783080" y="3429000"/>
            <a:ext cx="0" cy="1371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372600" y="2542032"/>
            <a:ext cx="0" cy="155448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8138160" y="3200400"/>
            <a:ext cx="91440" cy="32004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543800" y="3287268"/>
            <a:ext cx="128016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543800" y="32872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needed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515600" y="3200400"/>
            <a:ext cx="91440" cy="320040"/>
          </a:xfrm>
          <a:prstGeom prst="line">
            <a:avLst/>
          </a:prstGeom>
          <a:noFill/>
          <a:ln w="19050">
            <a:solidFill>
              <a:srgbClr val="0B3D63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966960" y="3287268"/>
            <a:ext cx="11887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9966960" y="32872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needed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229600" y="4297680"/>
            <a:ext cx="0" cy="137160"/>
          </a:xfrm>
          <a:prstGeom prst="line">
            <a:avLst/>
          </a:prstGeom>
          <a:noFill/>
          <a:ln w="19050">
            <a:solidFill>
              <a:srgbClr val="1A5FA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469880" y="4297680"/>
            <a:ext cx="0" cy="137160"/>
          </a:xfrm>
          <a:prstGeom prst="line">
            <a:avLst/>
          </a:prstGeom>
          <a:noFill/>
          <a:ln w="19050">
            <a:solidFill>
              <a:srgbClr val="1A5FA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Gate: Boolean Rubrics, Hard Regression Floor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50-case golden set · every category is pass/fail, not a 1–10 rating · CI must fail on a &gt;5% regression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8E8E8"/>
          </a:solidFill>
          <a:ln w="12700">
            <a:solidFill>
              <a:srgbClr val="6B6B6B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50-case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154680" y="5500116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74720" y="5074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CFE8FF"/>
          </a:solidFill>
          <a:ln w="1270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boolean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 case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5500116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400800" y="5074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CFE8FF"/>
          </a:solidFill>
          <a:ln w="12700">
            <a:solidFill>
              <a:srgbClr val="1A5F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vs.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(±5%)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006840" y="5500116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326880" y="5074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DEDEA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326880" y="5074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C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pre-push hook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C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push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Architecture</dc:title>
  <dc:subject>PptxGenJS Presentation</dc:subject>
  <dc:creator>Clinical Co-Pilot</dc:creator>
  <cp:lastModifiedBy>Clinical Co-Pilot</cp:lastModifiedBy>
  <cp:revision>1</cp:revision>
  <dcterms:created xsi:type="dcterms:W3CDTF">2026-07-13T18:45:47Z</dcterms:created>
  <dcterms:modified xsi:type="dcterms:W3CDTF">2026-07-13T18:45:47Z</dcterms:modified>
</cp:coreProperties>
</file>